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76" r:id="rId4"/>
    <p:sldId id="270" r:id="rId6"/>
    <p:sldId id="261" r:id="rId7"/>
    <p:sldId id="262" r:id="rId8"/>
    <p:sldId id="264" r:id="rId9"/>
    <p:sldId id="265" r:id="rId10"/>
    <p:sldId id="275" r:id="rId11"/>
    <p:sldId id="266" r:id="rId12"/>
    <p:sldId id="277" r:id="rId13"/>
    <p:sldId id="278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3" autoAdjust="0"/>
    <p:restoredTop sz="94660"/>
  </p:normalViewPr>
  <p:slideViewPr>
    <p:cSldViewPr snapToGrid="0">
      <p:cViewPr varScale="1">
        <p:scale>
          <a:sx n="82" d="100"/>
          <a:sy n="82" d="100"/>
        </p:scale>
        <p:origin x="8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endParaRPr lang="en-IN" sz="2000" b="1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US" altLang="en-IN" b="1" dirty="0"/>
              <a:t>Dr. Sudha P</a:t>
            </a:r>
            <a:endParaRPr lang="en-US" altLang="en-IN" b="1" dirty="0"/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Associate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Program: </a:t>
            </a:r>
            <a:r>
              <a:rPr lang="en-IN" altLang="en-US" sz="20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Computer Science and Engineering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HoD: </a:t>
            </a:r>
            <a:r>
              <a:rPr lang="en-IN" b="1" dirty="0"/>
              <a:t>Dr. </a:t>
            </a:r>
            <a:r>
              <a:rPr lang="en-US" altLang="en-IN" b="1" dirty="0"/>
              <a:t>Asif Mohammad</a:t>
            </a:r>
            <a:endParaRPr lang="en-IN" b="1" dirty="0"/>
          </a:p>
          <a:p>
            <a:pPr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 Internship Coordinator: </a:t>
            </a:r>
            <a:r>
              <a:rPr lang="en-IN" alt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</a:t>
            </a:r>
            <a:r>
              <a:rPr lang="en-US" altLang="en-IN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Balakrishna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Md Ziaur Rahman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Review-4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US" altLang="en-IN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MLFF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/>
                <a:gridCol w="3950282"/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cPr/>
                </a:tc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IN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Hemanth Nagaraj</a:t>
                      </a:r>
                      <a:endParaRPr lang="en-US" altLang="en-IN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20221CSE05</a:t>
                      </a:r>
                      <a:r>
                        <a:rPr lang="en-US" altLang="en-IN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27</a:t>
                      </a:r>
                      <a:endParaRPr lang="en-US" altLang="en-IN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8CSE0</a:t>
                      </a:r>
                      <a:r>
                        <a:rPr lang="en-US" altLang="en-IN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altLang="en-IN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  <a:endParaRPr lang="en-US" sz="2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  <a:endParaRPr lang="en-IN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</a:t>
            </a:r>
            <a:r>
              <a:rPr lang="en-US" alt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endParaRPr lang="en-US" altLang="en-IN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rmAutofit fontScale="55000" lnSpcReduction="20000"/>
          </a:bodyPr>
          <a:lstStyle/>
          <a:p>
            <a:r>
              <a:rPr lang="en-US" dirty="0" err="1"/>
              <a:t>ViaPlus</a:t>
            </a:r>
            <a:r>
              <a:rPr lang="en-US" dirty="0"/>
              <a:t> is a global mobility technology company operating in the </a:t>
            </a:r>
            <a:r>
              <a:rPr lang="en-US" b="1" dirty="0"/>
              <a:t>Intelligent Transportation Systems (ITS)</a:t>
            </a:r>
            <a:r>
              <a:rPr lang="en-US" dirty="0"/>
              <a:t> industry. The organization provides advanced platforms that help transportation agencies and roadway operators manage tolling, traffic movement, and mobility services more efficiently.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 company specializes in building </a:t>
            </a:r>
            <a:r>
              <a:rPr lang="en-US" b="1" dirty="0"/>
              <a:t>data-driven transportation solutions</a:t>
            </a:r>
            <a:r>
              <a:rPr lang="en-US" dirty="0"/>
              <a:t> that support modern, automated road infrastructure. Its systems enable seamless vehicle movement while ensuring accurate revenue collection and enforcement.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Core Areas of Work</a:t>
            </a:r>
            <a:endParaRPr lang="en-US" b="1" dirty="0"/>
          </a:p>
          <a:p>
            <a:pPr lvl="1"/>
            <a:r>
              <a:rPr lang="en-US" dirty="0"/>
              <a:t>Electronic Toll Collection (ETC) systems</a:t>
            </a:r>
            <a:endParaRPr lang="en-US" dirty="0"/>
          </a:p>
          <a:p>
            <a:pPr lvl="1"/>
            <a:r>
              <a:rPr lang="en-US" dirty="0"/>
              <a:t>Toll enforcement and violation processing</a:t>
            </a:r>
            <a:endParaRPr lang="en-US" dirty="0"/>
          </a:p>
          <a:p>
            <a:pPr lvl="1"/>
            <a:r>
              <a:rPr lang="en-US" dirty="0"/>
              <a:t>Road user charging solutions</a:t>
            </a:r>
            <a:endParaRPr lang="en-US" dirty="0"/>
          </a:p>
          <a:p>
            <a:pPr lvl="1"/>
            <a:r>
              <a:rPr lang="en-US" dirty="0"/>
              <a:t>EV charging and smart mobility integration</a:t>
            </a:r>
            <a:endParaRPr lang="en-US" dirty="0"/>
          </a:p>
          <a:p>
            <a:pPr lvl="1"/>
            <a:r>
              <a:rPr lang="en-US" dirty="0"/>
              <a:t>End-to-end mobility ecosystem management</a:t>
            </a:r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 err="1"/>
              <a:t>ViaPlus</a:t>
            </a:r>
            <a:r>
              <a:rPr lang="en-US" dirty="0"/>
              <a:t> plays a significant role in transforming traditional toll-based highways into </a:t>
            </a:r>
            <a:r>
              <a:rPr lang="en-US" b="1" dirty="0"/>
              <a:t>smart, connected, and free-flow transportation networks</a:t>
            </a:r>
            <a:r>
              <a:rPr lang="en-US" dirty="0"/>
              <a:t> using cloud platforms, sensor data, and intelligent back-office processing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During my internship, I worked in the </a:t>
            </a:r>
            <a:r>
              <a:rPr lang="en-US" b="1" dirty="0"/>
              <a:t>Intelligent Transportation Systems (ITS)</a:t>
            </a:r>
            <a:r>
              <a:rPr lang="en-US" dirty="0"/>
              <a:t> domain, mainly focusing on the </a:t>
            </a:r>
            <a:r>
              <a:rPr lang="en-US" b="1" dirty="0"/>
              <a:t>Mobility Back Office (MBO)</a:t>
            </a:r>
            <a:r>
              <a:rPr lang="en-US" dirty="0"/>
              <a:t> and toll transaction processing. The system converts raw roadside sensor data into accurate, billable toll records.</a:t>
            </a:r>
            <a:endParaRPr lang="en-US" dirty="0"/>
          </a:p>
          <a:p>
            <a:r>
              <a:rPr lang="en-US" dirty="0"/>
              <a:t>Vehicle data is captured using </a:t>
            </a:r>
            <a:r>
              <a:rPr lang="en-US" b="1" dirty="0"/>
              <a:t>RFID readers</a:t>
            </a:r>
            <a:r>
              <a:rPr lang="en-US" dirty="0"/>
              <a:t> and </a:t>
            </a:r>
            <a:r>
              <a:rPr lang="en-US" b="1" dirty="0"/>
              <a:t>ANPR cameras</a:t>
            </a:r>
            <a:r>
              <a:rPr lang="en-US" dirty="0"/>
              <a:t>. This information is processed in the back-office system where vehicles are verified, toll rules are applied, and financial transactions are generated.</a:t>
            </a:r>
            <a:endParaRPr lang="en-US" dirty="0"/>
          </a:p>
          <a:p>
            <a:r>
              <a:rPr lang="en-US" dirty="0"/>
              <a:t>The technology stack includes </a:t>
            </a:r>
            <a:r>
              <a:rPr lang="en-US" b="1" dirty="0"/>
              <a:t>MBO architecture</a:t>
            </a:r>
            <a:r>
              <a:rPr lang="en-US" dirty="0"/>
              <a:t>, </a:t>
            </a:r>
            <a:r>
              <a:rPr lang="en-US" b="1" dirty="0"/>
              <a:t>Computer Vision (AI/ML)</a:t>
            </a:r>
            <a:r>
              <a:rPr lang="en-US" dirty="0"/>
              <a:t>, </a:t>
            </a:r>
            <a:r>
              <a:rPr lang="en-US" b="1" dirty="0"/>
              <a:t>IoT roadside devices</a:t>
            </a:r>
            <a:r>
              <a:rPr lang="en-US" dirty="0"/>
              <a:t>, and </a:t>
            </a:r>
            <a:r>
              <a:rPr lang="en-US" b="1" dirty="0"/>
              <a:t>cloud infrastructure</a:t>
            </a:r>
            <a:r>
              <a:rPr lang="en-US" dirty="0"/>
              <a:t> for scalable and reliable operations.</a:t>
            </a:r>
            <a:endParaRPr lang="en-US" dirty="0"/>
          </a:p>
          <a:p>
            <a:r>
              <a:rPr lang="en-US" dirty="0"/>
              <a:t>The platform supports </a:t>
            </a:r>
            <a:r>
              <a:rPr lang="en-US" b="1" dirty="0"/>
              <a:t>Multi-Lane Free Flow (MLFF)</a:t>
            </a:r>
            <a:r>
              <a:rPr lang="en-US" dirty="0"/>
              <a:t> tolling, allowing vehicles to pass without stopping, which reduces congestion and improves efficiency. I also contributed to backend monitoring dashboards using </a:t>
            </a:r>
            <a:r>
              <a:rPr lang="en-US" b="1" dirty="0"/>
              <a:t>C# and .NET</a:t>
            </a:r>
            <a:r>
              <a:rPr lang="en-US" dirty="0"/>
              <a:t> to track transactions and system performance.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During my internship, I encountered several practical challenges that helped me grow technically and professionally.</a:t>
            </a:r>
            <a:endParaRPr lang="en-US" dirty="0"/>
          </a:p>
          <a:p>
            <a:r>
              <a:rPr lang="en-US" dirty="0"/>
              <a:t>One major challenge was </a:t>
            </a:r>
            <a:r>
              <a:rPr lang="en-US" b="1" dirty="0"/>
              <a:t>adapting to a new technology stack and domain</a:t>
            </a:r>
            <a:r>
              <a:rPr lang="en-US" dirty="0"/>
              <a:t>. Moving from academic projects to large-scale enterprise systems required understanding complex architectures and industry standards.</a:t>
            </a:r>
            <a:endParaRPr lang="en-US" dirty="0"/>
          </a:p>
          <a:p>
            <a:r>
              <a:rPr lang="en-US" dirty="0"/>
              <a:t>Another key challenge was working on </a:t>
            </a:r>
            <a:r>
              <a:rPr lang="en-US" b="1" dirty="0"/>
              <a:t>financially sensitive tolling systems</a:t>
            </a:r>
            <a:r>
              <a:rPr lang="en-US" dirty="0"/>
              <a:t>, where even a small error could affect real monetary transactions. This required writing highly reliable code with proper validation, exception handling, and detailed logging.</a:t>
            </a:r>
            <a:endParaRPr lang="en-US" dirty="0"/>
          </a:p>
          <a:p>
            <a:r>
              <a:rPr lang="en-US" dirty="0"/>
              <a:t>I also faced difficulties in </a:t>
            </a:r>
            <a:r>
              <a:rPr lang="en-US" b="1" dirty="0"/>
              <a:t>setting up and understanding the development environment</a:t>
            </a:r>
            <a:r>
              <a:rPr lang="en-US" dirty="0"/>
              <a:t>, which included databases, APIs, and multiple interconnected services. Learning how these components interact was essential before contributing effectively.</a:t>
            </a:r>
            <a:endParaRPr lang="en-US" dirty="0"/>
          </a:p>
          <a:p>
            <a:r>
              <a:rPr lang="en-US" dirty="0"/>
              <a:t>These challenges improved my problem-solving skills and gave me valuable exposure to real-world software development practices.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The primary objective of my internship was to gain practical exposure to the </a:t>
            </a:r>
            <a:r>
              <a:rPr lang="en-US" b="1" dirty="0"/>
              <a:t>Intelligent Transportation Systems (ITS)</a:t>
            </a:r>
            <a:r>
              <a:rPr lang="en-US" dirty="0"/>
              <a:t> domain and understand how modern tolling solutions operate in real-world environments.</a:t>
            </a:r>
            <a:endParaRPr lang="en-US" dirty="0"/>
          </a:p>
          <a:p>
            <a:r>
              <a:rPr lang="en-US" dirty="0"/>
              <a:t>I aimed to learn the </a:t>
            </a:r>
            <a:r>
              <a:rPr lang="en-US" b="1" dirty="0"/>
              <a:t>end-to-end lifecycle of an Electronic Toll Collection (ETC) transaction</a:t>
            </a:r>
            <a:r>
              <a:rPr lang="en-US" dirty="0"/>
              <a:t>, starting from vehicle detection using roadside sensors to the generation of validated financial records in the back-office system.</a:t>
            </a:r>
            <a:endParaRPr lang="en-US" dirty="0"/>
          </a:p>
          <a:p>
            <a:r>
              <a:rPr lang="en-US" dirty="0"/>
              <a:t>Another key objective was to adapt to a professional </a:t>
            </a:r>
            <a:r>
              <a:rPr lang="en-US" b="1" dirty="0"/>
              <a:t>Agile/Scrum development environment</a:t>
            </a:r>
            <a:r>
              <a:rPr lang="en-US" dirty="0"/>
              <a:t>, actively participating in sprint planning, daily stand-ups, and review meetings to understand collaborative software development practices.</a:t>
            </a:r>
            <a:endParaRPr lang="en-US" dirty="0"/>
          </a:p>
          <a:p>
            <a:r>
              <a:rPr lang="en-US" dirty="0"/>
              <a:t>Additionally, I focused on enhancing my technical skills by contributing to backend modules and developing </a:t>
            </a:r>
            <a:r>
              <a:rPr lang="en-US" b="1" dirty="0"/>
              <a:t>monitoring dashboards using C# and .NET</a:t>
            </a:r>
            <a:r>
              <a:rPr lang="en-US" dirty="0"/>
              <a:t>, which help track system performance and transaction data.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The proposed system offers several improvements over traditional toll collection methods by combining automation, real-time data processing, and intelligent monitoring.</a:t>
            </a:r>
            <a:endParaRPr lang="en-US" dirty="0"/>
          </a:p>
          <a:p>
            <a:r>
              <a:rPr lang="en-US" dirty="0"/>
              <a:t>One major advantage is </a:t>
            </a:r>
            <a:r>
              <a:rPr lang="en-US" b="1" dirty="0"/>
              <a:t>reduced traffic congestion</a:t>
            </a:r>
            <a:r>
              <a:rPr lang="en-US" dirty="0"/>
              <a:t>, as vehicles can pass through toll zones without stopping under the Multi-Lane Free Flow (MLFF) model. This leads to smoother traffic movement and shorter travel times.</a:t>
            </a:r>
            <a:endParaRPr lang="en-US" dirty="0"/>
          </a:p>
          <a:p>
            <a:r>
              <a:rPr lang="en-US" dirty="0"/>
              <a:t>The system also ensures </a:t>
            </a:r>
            <a:r>
              <a:rPr lang="en-US" b="1" dirty="0"/>
              <a:t>high transaction accuracy</a:t>
            </a:r>
            <a:r>
              <a:rPr lang="en-US" dirty="0"/>
              <a:t> by using RFID and ANPR technologies along with strong back-office validation processes. This minimizes human errors and improves financial reliability.</a:t>
            </a:r>
            <a:endParaRPr lang="en-US" dirty="0"/>
          </a:p>
          <a:p>
            <a:r>
              <a:rPr lang="en-US" dirty="0"/>
              <a:t>Another benefit is </a:t>
            </a:r>
            <a:r>
              <a:rPr lang="en-US" b="1" dirty="0"/>
              <a:t>scalability and reliability</a:t>
            </a:r>
            <a:r>
              <a:rPr lang="en-US" dirty="0"/>
              <a:t>, supported by cloud-based infrastructure that can handle large volumes of real-time vehicle data efficiently.</a:t>
            </a:r>
            <a:endParaRPr lang="en-US" dirty="0"/>
          </a:p>
          <a:p>
            <a:r>
              <a:rPr lang="en-US" dirty="0"/>
              <a:t>The inclusion of </a:t>
            </a:r>
            <a:r>
              <a:rPr lang="en-US" b="1" dirty="0"/>
              <a:t>monitoring dashboards developed using C# and .NET</a:t>
            </a:r>
            <a:r>
              <a:rPr lang="en-US" dirty="0"/>
              <a:t> provides operational visibility, allowing teams to track system performance, detect issues quickly, and maintain uninterrupted tolling services.</a:t>
            </a:r>
            <a:endParaRPr lang="en-US" dirty="0"/>
          </a:p>
          <a:p>
            <a:r>
              <a:rPr lang="en-US" dirty="0"/>
              <a:t>Overall, the proposed work contributes to a </a:t>
            </a:r>
            <a:r>
              <a:rPr lang="en-US" b="1" dirty="0"/>
              <a:t>faster, smarter, and more efficient tolling ecosystem</a:t>
            </a:r>
            <a:r>
              <a:rPr lang="en-US" dirty="0"/>
              <a:t> that enhances both user convenience and operational effectiveness</a:t>
            </a:r>
            <a:endParaRPr lang="en-US" dirty="0"/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Work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850265"/>
            <a:ext cx="7748905" cy="48202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Work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833755"/>
            <a:ext cx="6693535" cy="48387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Work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847725"/>
            <a:ext cx="6137910" cy="50069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  <a:endParaRPr lang="en-US" sz="6600" dirty="0">
              <a:solidFill>
                <a:schemeClr val="accent2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5621</Words>
  <Application>WPS Presentation</Application>
  <PresentationFormat>Widescreen</PresentationFormat>
  <Paragraphs>121</Paragraphs>
  <Slides>12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6" baseType="lpstr">
      <vt:lpstr>Arial</vt:lpstr>
      <vt:lpstr>SimSun</vt:lpstr>
      <vt:lpstr>Wingdings</vt:lpstr>
      <vt:lpstr>Arial</vt:lpstr>
      <vt:lpstr>Cambria</vt:lpstr>
      <vt:lpstr>Verdana</vt:lpstr>
      <vt:lpstr>Times New Roman</vt:lpstr>
      <vt:lpstr>Tahoma</vt:lpstr>
      <vt:lpstr>Calibri</vt:lpstr>
      <vt:lpstr>Microsoft YaHei</vt:lpstr>
      <vt:lpstr>Arial Unicode MS</vt:lpstr>
      <vt:lpstr>Calibri Light</vt:lpstr>
      <vt:lpstr>Office Theme</vt:lpstr>
      <vt:lpstr>1_Office Theme</vt:lpstr>
      <vt:lpstr>PowerPoint 演示文稿</vt:lpstr>
      <vt:lpstr>Content</vt:lpstr>
      <vt:lpstr>About Company or Organization</vt:lpstr>
      <vt:lpstr>Working domain or the technology</vt:lpstr>
      <vt:lpstr>Challenges Faced in Internship</vt:lpstr>
      <vt:lpstr>Objectives of the work</vt:lpstr>
      <vt:lpstr>Advantages of Proposed System/Work</vt:lpstr>
      <vt:lpstr>Internship Road Map</vt:lpstr>
      <vt:lpstr>Internship Work</vt:lpstr>
      <vt:lpstr>Internship Work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WPS_1745482763</cp:lastModifiedBy>
  <cp:revision>719</cp:revision>
  <dcterms:created xsi:type="dcterms:W3CDTF">2022-10-14T07:18:00Z</dcterms:created>
  <dcterms:modified xsi:type="dcterms:W3CDTF">2026-04-24T09:32:06Z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4D8C35AC64C34C0EAC7D1B904A261EB7_12</vt:lpwstr>
  </property>
  <property fmtid="{D5CDD505-2E9C-101B-9397-08002B2CF9AE}" pid="3" name="KSOProductBuildVer">
    <vt:lpwstr>1033-12.1.0.25862</vt:lpwstr>
  </property>
</Properties>
</file>